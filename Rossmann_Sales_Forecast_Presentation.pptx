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7" r:id="rId10"/>
    <p:sldId id="268" r:id="rId11"/>
    <p:sldId id="269" r:id="rId12"/>
    <p:sldId id="270" r:id="rId13"/>
    <p:sldId id="272" r:id="rId14"/>
    <p:sldId id="273" r:id="rId15"/>
    <p:sldId id="274" r:id="rId16"/>
    <p:sldId id="275" r:id="rId17"/>
    <p:sldId id="276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6" d="100"/>
          <a:sy n="76" d="100"/>
        </p:scale>
        <p:origin x="1404" y="9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547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6858000" cy="662940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109728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COURSE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Machine Learning to Drive Operational Excellence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1,115 Rossmann Drug Stores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Olivier ANDRIANOEL – Wassim BELABED – Thomas MAGALLON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4592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Presentation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92624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|  QUANTITATIVE RESEARCH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143000"/>
            <a:ext cx="54864" cy="1051560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216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1527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Dataset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17830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sales forecasting matters for Rossmann operations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77440"/>
            <a:ext cx="54864" cy="1051560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2761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Seasonality, promotions, weekday patterns and store dynamics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11880"/>
            <a:ext cx="54864" cy="1051560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85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1480" y="3995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Approach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251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temporal validation and baseline benchmarks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114300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143000"/>
            <a:ext cx="54864" cy="1051560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216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46320" y="1527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Comparison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17830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RMSPE vs MAE trade-off, actual vs predicted analysis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37744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377440"/>
            <a:ext cx="54864" cy="1051560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46320" y="2761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Diagnostics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structure, store-level failures, calendar effects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61188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11880"/>
            <a:ext cx="54864" cy="1051560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685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846320" y="3995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0" y="4251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recommendations and path to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 ·  BUSINESS CONTEXT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4592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Problem We Are Solving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Rossmann: 1,115 European drug stores. Daily revenue forecasting at store level.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92624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|  QUANTITATIVE RESEARCH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3840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143000"/>
            <a:ext cx="54864" cy="12344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Stock Replenishment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156362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daily demand visibility, stores over-order or face stockouts, both of which destroy margin.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1143000"/>
            <a:ext cx="3840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143000"/>
            <a:ext cx="54864" cy="12344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Labor Scheduling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56362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staff without a demand forecast means overtime waste or understaffing peaks.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3840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60320"/>
            <a:ext cx="54864" cy="12344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Revenue Visibility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298094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requires reliable near-term revenue projections for liquidity planning.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2560320"/>
            <a:ext cx="3840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2560320"/>
            <a:ext cx="54864" cy="12344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Promo Optimization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298094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ROI cannot be measured or optimized without isolating the demand uplift.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66760" y="1097280"/>
            <a:ext cx="548640" cy="37490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 rot="5400000">
            <a:off x="8229600" y="1097280"/>
            <a:ext cx="8229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02752" y="1097280"/>
            <a:ext cx="54864" cy="37490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 ·  DATASET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4592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train.csv + store.csv • 2013-01-01 to 2015-07-31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92624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|  QUANTITATIVE RESEARCH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2011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64008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207008"/>
            <a:ext cx="182880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1,017,209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11480" y="1711757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195315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merging train + store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50592" y="1097280"/>
            <a:ext cx="2011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0592" y="1097280"/>
            <a:ext cx="64008" cy="1097280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1207008"/>
            <a:ext cx="182880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87752" y="1711757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87752" y="195315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panel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26864" y="1097280"/>
            <a:ext cx="2011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1097280"/>
            <a:ext cx="64008" cy="1097280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1207008"/>
            <a:ext cx="182880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844,338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64024" y="1711757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Rows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64024" y="195315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stores, sales &gt; 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03136" y="1097280"/>
            <a:ext cx="2011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1097280"/>
            <a:ext cx="64008" cy="10972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0296" y="1207008"/>
            <a:ext cx="182880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years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40296" y="1711757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Horizon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0296" y="195315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2013 – Jul 2015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423160"/>
            <a:ext cx="1280160" cy="777240"/>
          </a:xfrm>
          <a:prstGeom prst="rect">
            <a:avLst/>
          </a:prstGeom>
          <a:solidFill>
            <a:srgbClr val="263F8F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4231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train.csv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(Sales History)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572768" y="2761488"/>
            <a:ext cx="164592" cy="1097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37360" y="2423160"/>
            <a:ext cx="1280160" cy="777240"/>
          </a:xfrm>
          <a:prstGeom prst="rect">
            <a:avLst/>
          </a:prstGeom>
          <a:solidFill>
            <a:srgbClr val="263F8F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0" y="24231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store.csv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(Store Metadata)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035808" y="2761488"/>
            <a:ext cx="164592" cy="1097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2423160"/>
            <a:ext cx="12801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24231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on Store ID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498848" y="2761488"/>
            <a:ext cx="164592" cy="1097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2423160"/>
            <a:ext cx="1280160" cy="777240"/>
          </a:xfrm>
          <a:prstGeom prst="rect">
            <a:avLst/>
          </a:prstGeom>
          <a:solidFill>
            <a:srgbClr val="1E40AF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4231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61888" y="2761488"/>
            <a:ext cx="164592" cy="1097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2423160"/>
            <a:ext cx="12801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24231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Open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Sales &gt; 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424928" y="2761488"/>
            <a:ext cx="164592" cy="1097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89520" y="2423160"/>
            <a:ext cx="12801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0" y="24231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(90/10)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74320" y="22677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6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PIPELINE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3401568"/>
            <a:ext cx="8595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11480" y="34564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MODELLING DECISIONS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Target variable: Sales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931920" y="3730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excluded, not observable at forecast origin (avoids future data leakage)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50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Temporal train/test split (90/10)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931920" y="4050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splits contaminate the test set with future info, invalidated for time series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4370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Filter Open=0 and Sales≤0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931920" y="4370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Closed-day sales are deterministic business rules, not stochastic forecasting targets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·  EDA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4592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Seasonality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on open days with positive sales • Average across all stores 2013–2015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92624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|  QUANTITATIVE RESEARCH</a:t>
            </a:r>
            <a:endParaRPr lang="en-US" sz="7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760720" cy="35661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72200" y="105156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1051560"/>
            <a:ext cx="64008" cy="10972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1161288"/>
            <a:ext cx="25603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€8,609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309360" y="1666037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Peak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09360" y="190743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avg. daily sales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72200" y="233172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2331720"/>
            <a:ext cx="64008" cy="1097280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2441448"/>
            <a:ext cx="25603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309360" y="2946197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vs Oct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09360" y="318759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vs weakest month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172200" y="361188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72200" y="3611880"/>
            <a:ext cx="64008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3721608"/>
            <a:ext cx="25603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309360" y="4226357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Pre-Xmas Lift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09360" y="446775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strongest month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4320" y="4663440"/>
            <a:ext cx="54864" cy="274320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2336" y="4736592"/>
            <a:ext cx="8394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Business implication: Q4 inventory build-up, peak staffing in Nov–Dec, and tighter cash-flow forecasting in Q4 are directly supported by this pattern.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·  EDA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4592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Sales Patterns &amp; Sunday Closure Effect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Sunday averages are conditional on the rare open Sunday — not representative of all Sundays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92624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|  QUANTITATIVE RESEARCH</a:t>
            </a:r>
            <a:endParaRPr lang="en-US" sz="7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572000" cy="256032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51560"/>
            <a:ext cx="3931920" cy="2560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3657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 – Average Sales by Day (open days only)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937760" y="36576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B – Share of Zero-Sales Days: Sunday vs Non-Sunday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74320" y="3913632"/>
            <a:ext cx="85953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1D9E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3931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/ Sunday high average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840480" y="393192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open Sundays are high-volume but rare. ~97% of Sundays record zero sales.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E8EEF8"/>
          </a:solidFill>
          <a:ln w="3810">
            <a:solidFill>
              <a:srgbClr val="D1D9E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5760" y="4270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is weakest weekday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840480" y="42702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midweek trough. Saturday historically lower than Mon–Fri average.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74320" y="4590288"/>
            <a:ext cx="85953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1D9E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" y="46085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forecast logic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840480" y="460857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 should model P(store open | Sunday) separately from sales level.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·  EDA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4592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Uplift: The Single Strongest Commercial Lever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store types respond to Promo, but response intensity varies by format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92624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|  QUANTITATIVE RESEARCH</a:t>
            </a:r>
            <a:endParaRPr lang="en-US" sz="7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114800" cy="292608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51560"/>
            <a:ext cx="4297680" cy="2926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40050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Promo Effect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572000" y="40050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× Store Type Interaction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74320" y="4251960"/>
            <a:ext cx="2606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4251960"/>
            <a:ext cx="64008" cy="6858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11480" y="43616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+38.8%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411480" y="46360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Promo Uplift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11480" y="47868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vs No-Promo days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154680" y="4251960"/>
            <a:ext cx="2606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154680" y="4251960"/>
            <a:ext cx="64008" cy="685800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291840" y="43616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3291840" y="46360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Promo Responder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291840" y="47868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absolute uplift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035040" y="4251960"/>
            <a:ext cx="2606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035040" y="4251960"/>
            <a:ext cx="64008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172200" y="43616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</a:t>
            </a:r>
            <a:endParaRPr lang="en-US" sz="2800" dirty="0"/>
          </a:p>
        </p:txBody>
      </p:sp>
      <p:sp>
        <p:nvSpPr>
          <p:cNvPr id="27" name="Text 23"/>
          <p:cNvSpPr/>
          <p:nvPr/>
        </p:nvSpPr>
        <p:spPr>
          <a:xfrm>
            <a:off x="6172200" y="46360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XGBoost Feature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172200" y="47868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model importance score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·  EDA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4592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Correlation Structure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feature screening — note: nonlinear relationships not captured here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92624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|  QUANTITATIVE RESEARCH</a:t>
            </a:r>
            <a:endParaRPr lang="en-US" sz="7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02920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40680" y="1051560"/>
            <a:ext cx="3429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40680" y="1051560"/>
            <a:ext cx="54864" cy="658368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50408" y="108813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→ Sales (+)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550408" y="13075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linear signal in the matrix. Promo activation meaningfully correlates with higher daily sales.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440680" y="1801368"/>
            <a:ext cx="3429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40680" y="1801368"/>
            <a:ext cx="54864" cy="658368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50408" y="18379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DayOfWeek → Sales (−)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550408" y="20574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Later-numbered days (Sat=6) are associated with lower sales, consistent with the EDA.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40680" y="2551176"/>
            <a:ext cx="3429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40680" y="2551176"/>
            <a:ext cx="54864" cy="658368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50408" y="25877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↔ WeekOfYear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550408" y="28072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collinearity, only one should typically be used in linear models. Trees handle both.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440680" y="3300984"/>
            <a:ext cx="3429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40680" y="3300984"/>
            <a:ext cx="54864" cy="658368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50408" y="33375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PromoOpen ↔ IsPromoMonth (−)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550408" y="35570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 is by construction: PromoOpen measures elapsed duration, IsPromoMonth flags the window.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440680" y="4050792"/>
            <a:ext cx="3429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40680" y="4050792"/>
            <a:ext cx="54864" cy="658368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50408" y="40873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StoreType encoding caveat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550408" y="43068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encoding imposes false ordinal scale (a=1 &lt; b=2). Works for XGBoost; misleading in linear models.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·  MODELLING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4592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Framework &amp; Model Selection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compared: Naive Baseline · Linear Regression · XGBoost Regressor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92624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|  QUANTITATIVE RESEARCH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2724912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2724912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9728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1280160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15727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Store × Day-of-Week historical mean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0665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Falls back to store mean, then global mean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 parameters, no training overhead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05409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Surprisingly competitive on RMSPE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82112" y="1097280"/>
            <a:ext cx="2724912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82112" y="1097280"/>
            <a:ext cx="2724912" cy="411480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109728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82112" y="1280160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19272" y="15727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OLS on all engineered features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9272" y="20665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Integer-encoded categoricals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9272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Assumes additive linear relationships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19272" y="305409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Fails to capture nonlinearities &amp; interactions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9904" y="1097280"/>
            <a:ext cx="2724912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1097280"/>
            <a:ext cx="2724912" cy="411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109728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89904" y="1280160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27064" y="15727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n_estimators=100, max_depth=8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27064" y="20665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learning_rate=0.1, subsample=0.8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27064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colsample_bytree=0.8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27064" y="305409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Best MAE —&gt; captures nonlinear promo effects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767328"/>
            <a:ext cx="8595360" cy="1143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822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VALIDATION DESIGN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059936"/>
            <a:ext cx="1920240" cy="713232"/>
          </a:xfrm>
          <a:prstGeom prst="rect">
            <a:avLst/>
          </a:prstGeom>
          <a:solidFill>
            <a:srgbClr val="1A2E6E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078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42793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2013 – Apr 2015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(90% of data)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633472" y="4059936"/>
            <a:ext cx="1920240" cy="713232"/>
          </a:xfrm>
          <a:prstGeom prst="rect">
            <a:avLst/>
          </a:prstGeom>
          <a:solidFill>
            <a:srgbClr val="1A2E6E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33472" y="4078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633472" y="42793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Jul 2015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(10% of data)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09744" y="4059936"/>
            <a:ext cx="1920240" cy="713232"/>
          </a:xfrm>
          <a:prstGeom prst="rect">
            <a:avLst/>
          </a:prstGeom>
          <a:solidFill>
            <a:srgbClr val="1A2E6E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4078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09744" y="42793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sort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split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986016" y="4059936"/>
            <a:ext cx="1920240" cy="713232"/>
          </a:xfrm>
          <a:prstGeom prst="rect">
            <a:avLst/>
          </a:prstGeom>
          <a:solidFill>
            <a:srgbClr val="1A2E6E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86016" y="4078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METRIC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986016" y="42793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RMSPE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·  MODELLING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4592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Feature Importances: What Drives Sales 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Gain-based importance. Note: directional interpretation requires SHAP (future work)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92624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|  QUANTITATIVE RESEARCH</a:t>
            </a:r>
            <a:endParaRPr lang="en-US" sz="7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303520" cy="3703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69280" y="1051560"/>
            <a:ext cx="3246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1051560"/>
            <a:ext cx="64008" cy="11430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88152" y="10881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DOMINANT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788152" y="13075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88152" y="154533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far the strongest signal. 3× more important than the next feature. Promotions are the primary controllable lever.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669280" y="2313432"/>
            <a:ext cx="3246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9280" y="2313432"/>
            <a:ext cx="64008" cy="1143000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88152" y="23500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STRUCTURAL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788152" y="25694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Promo2SinceYear, Promo2, CompetitionOpenSinceYear, CompetitionDistance, Assortment, Store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788152" y="28072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identity and promotional programme design. Capture cross-sectional heterogeneity.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669280" y="3575304"/>
            <a:ext cx="3246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669280" y="3575304"/>
            <a:ext cx="64008" cy="11430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88152" y="3611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CALENDAR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788152" y="38313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DayOfWeekFromDate, Month, Day, WeekOfYear, PromoOpen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788152" y="40690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rhythm. Important but secondary to the structural and promo signals.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 · 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4592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Performance: The Metric Divergence Story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 on MAE (€ error) but the Naive Baseline wins on RMSPE — both results matter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92624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|  QUANTITATIVE RESEARCH</a:t>
            </a:r>
            <a:endParaRPr lang="en-US" sz="7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297680" cy="265176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51560"/>
            <a:ext cx="4297680" cy="2651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37307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RMSPE (%) — lower is better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709160" y="37307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(€) — lower is better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74320" y="3977640"/>
            <a:ext cx="8595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20040" y="40050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743200" y="40050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RMSPE (%)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572000" y="40050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(€)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217920" y="40050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(€)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589520" y="40050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Winner?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20040" y="4251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NaiveBaseline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743200" y="4251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21.98%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572000" y="4251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~1,200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217920" y="4251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~1,900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589520" y="4251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RMSPE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20040" y="44714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743200" y="44714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23.0%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572000" y="44714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~1,051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217920" y="44714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~1,700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7589520" y="44714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MAE / RMSE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20040" y="4690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2743200" y="4690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47%+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572000" y="4690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~2,030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217920" y="4690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~2,800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7589520" y="4690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Weakest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 · 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4592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Test Period: Actual vs Predicted Daily Sales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July 2015 • All stores summed • XGBoost tracks rhythm; Linear Regression too smooth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92624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|  QUANTITATIVE RESEARCH</a:t>
            </a:r>
            <a:endParaRPr lang="en-US" sz="7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8595360" cy="3154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343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XGBoost (Red):  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67712" y="4343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weekly rhythm and major spikes well. Collapses correctly on Sunday closures.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45152" y="4343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Naive Baseline (Orange):  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38544" y="4343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periodic structure, less responsive to promotional peaks vs XGBoost.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4320" y="4663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Linear Regression (Green):  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267712" y="4663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smooth, misses the amplitude of weekly swings. RMSPE confirms the failure.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45152" y="4663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Aggregation caveat:  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638544" y="4663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Chain-level fit can look clean while store-level errors cancel out. See store-level diagnostics.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 ·  DIAGNOSTICS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4592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Structure: Model Errors Are Not Random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residuals and time-varying bias indicate unmodelled demand drivers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92624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|  QUANTITATIVE RESEARCH</a:t>
            </a:r>
            <a:endParaRPr lang="en-US" sz="7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389120" cy="283464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051560"/>
            <a:ext cx="411480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390448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Distribution (Actual − Predicted)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800600" y="39044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Residual Over Time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74320" y="4071620"/>
            <a:ext cx="8595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1D9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4071620"/>
            <a:ext cx="4572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0899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tail → underprediction of peaks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858768" y="40899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biased in the upside tail. Stockouts during promotional spikes are the key operational risk.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74320" y="4364228"/>
            <a:ext cx="8595360" cy="256032"/>
          </a:xfrm>
          <a:prstGeom prst="rect">
            <a:avLst/>
          </a:prstGeom>
          <a:solidFill>
            <a:srgbClr val="E8EEF8"/>
          </a:solidFill>
          <a:ln w="3810">
            <a:solidFill>
              <a:srgbClr val="D1D9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74320" y="4364228"/>
            <a:ext cx="45720" cy="256032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84048" y="43825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Time-varying bias → non-stationary model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858768" y="438251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negative residuals in early July suggest unmodelled event or regime. Model should be monitored in production.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74320" y="4656836"/>
            <a:ext cx="8595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1D9E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74320" y="4656836"/>
            <a:ext cx="457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84048" y="46751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near-zero → adequate baseline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858768" y="46751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typical trading days the model is unbiased. The challenge is at the extremes, not the average.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 ·  DIAGNOSTICS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4592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Heatmaps: Where the Model Fails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period covers May–July 2015 only — blank months are not model failure, they are out-of-test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92624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|  QUANTITATIVE RESEARCH</a:t>
            </a:r>
            <a:endParaRPr lang="en-US" sz="7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206240" cy="342900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51560"/>
            <a:ext cx="4206240" cy="3429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44988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by Month × Promo Status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663440" y="44988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by Month × Day of Week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 ·  BUSINESS IMPLICATIONS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4592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to Operations: What This Means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model findings into actionable operational decisions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92624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|  QUANTITATIVE RESEARCH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64008" cy="17373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Inventory &amp; Supply Chain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481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Build seasonal stock positions from October — December demand is 30% above the annual average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19110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Promo periods require pre-positioned inventory — demand uplift is ~39% and model confirms it is the #1 driver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3408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Weekend replenishment requires wider safety buffers: MAPE on Sunday is structurally highest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97280"/>
            <a:ext cx="64008" cy="1737360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Labor Planning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481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Align staffing calendars to the Month × Day-of-Week heatmap — nonlinear interactions require granular scheduling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19110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December Monday peaks need maximum staffing; October Saturday needs minimum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23408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Promo activation signals are known in advance — use them to drive staffing uplift weeks ahead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71800"/>
            <a:ext cx="64008" cy="17373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063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Finance &amp; Revenue Planning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3558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XGBoost provides ~€1,051 MAE at store level — suitable for bottom-up revenue aggregation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37856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Positive right-tail residuals mean revenue upside is more frequently missed than downside: plan conservatively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2153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Store 1114-type systematic underprediction: flag high-volume stores for manual override review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297180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971800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063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Promotion Strategy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3558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Promo is the single largest controllable lever — 38.8% average uplift confirmed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37856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Store Type 2 has the highest absolute promo response — prioritise promo allocation to this format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46320" y="42153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Model errors are lower on Promo=1 days in May — structured demand is more predictable than unstructured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 ·  NEXT STEPS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4592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From Prototype to Production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prioritised improvements with estimated impact on forecast error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92624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|  QUANTITATIVE RESEARCH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1078992"/>
            <a:ext cx="8595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78992"/>
            <a:ext cx="64008" cy="694944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11556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11338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408176"/>
            <a:ext cx="1005840" cy="182880"/>
          </a:xfrm>
          <a:prstGeom prst="rect">
            <a:avLst/>
          </a:prstGeom>
          <a:solidFill>
            <a:srgbClr val="E8EEF8"/>
          </a:solidFill>
          <a:ln w="3810">
            <a:solidFill>
              <a:srgbClr val="D1D9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4173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920240" y="1408176"/>
            <a:ext cx="7315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4173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834640" y="113385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gain-based importance with SHAP. Enables directional interpretation and identifies which features push individual predictions up or down.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847088"/>
            <a:ext cx="8595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1847088"/>
            <a:ext cx="64008" cy="694944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1883664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1901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 Backtesting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2176272"/>
            <a:ext cx="1005840" cy="182880"/>
          </a:xfrm>
          <a:prstGeom prst="rect">
            <a:avLst/>
          </a:prstGeom>
          <a:solidFill>
            <a:srgbClr val="E8EEF8"/>
          </a:solidFill>
          <a:ln w="3810">
            <a:solidFill>
              <a:srgbClr val="D1D9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1854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920240" y="2176272"/>
            <a:ext cx="7315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21854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834640" y="190195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multiple test windows across seasons, not just one holdout. Stress-test model on holiday periods and promo regimes not seen in training.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615184"/>
            <a:ext cx="8595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615184"/>
            <a:ext cx="64008" cy="694944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26517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2960" y="2670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Closure Model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2944368"/>
            <a:ext cx="1005840" cy="182880"/>
          </a:xfrm>
          <a:prstGeom prst="rect">
            <a:avLst/>
          </a:prstGeom>
          <a:solidFill>
            <a:srgbClr val="E8EEF8"/>
          </a:solidFill>
          <a:ln w="3810">
            <a:solidFill>
              <a:srgbClr val="D1D9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29535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Weeks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920240" y="2944368"/>
            <a:ext cx="731520" cy="1828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20240" y="29535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IMPACT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834640" y="267004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binary open/closed classifier as Stage 1. Feed its output to Stage 2 (sales level). Critical for Sunday and public holiday prediction.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383280"/>
            <a:ext cx="8595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383280"/>
            <a:ext cx="64008" cy="694944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341985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22960" y="34381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Store-Level Hypertuning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2960" y="3712464"/>
            <a:ext cx="1005840" cy="182880"/>
          </a:xfrm>
          <a:prstGeom prst="rect">
            <a:avLst/>
          </a:prstGeom>
          <a:solidFill>
            <a:srgbClr val="E8EEF8"/>
          </a:solidFill>
          <a:ln w="3810">
            <a:solidFill>
              <a:srgbClr val="D1D9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37216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Weeks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920240" y="3712464"/>
            <a:ext cx="731520" cy="1828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20240" y="3721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IMPACT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834640" y="343814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High-MAE stores (e.g. Store 1114) warrant dedicated model calibration or ensemble blending with a local naive baseline.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151376"/>
            <a:ext cx="8595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4151376"/>
            <a:ext cx="64008" cy="694944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" y="418795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22960" y="4206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Promo Estimation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22960" y="4480560"/>
            <a:ext cx="1005840" cy="182880"/>
          </a:xfrm>
          <a:prstGeom prst="rect">
            <a:avLst/>
          </a:prstGeom>
          <a:solidFill>
            <a:srgbClr val="E8EEF8"/>
          </a:solidFill>
          <a:ln w="3810">
            <a:solidFill>
              <a:srgbClr val="D1D9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" y="44897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920240" y="4480560"/>
            <a:ext cx="7315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20240" y="44897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834640" y="420624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associational promo uplift to causal estimates using Diff-in-Diff or synthetic control. Required for ROI calculation and budget allocation.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263F8F"/>
          </a:solidFill>
          <a:ln w="12700">
            <a:solidFill>
              <a:srgbClr val="263F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6400800" cy="754380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Research Proves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28600" cy="2286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019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are the #1 controllable commercial lever — 38.8% average uplift, confirmed across all store types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228600" cy="2286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591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demand is 30%+ above the annual average — Q4 planning is the highest-stakes operational window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28600" cy="2286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163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achieves €1,051 MAE and is suitable for bottom-up revenue aggregation at chain level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228600" cy="2286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735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a structural right-tail gap — peaks are underforecast — operational buffers remain essential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228600" cy="2286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307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 outperforms XGBoost on RMSPE: a disciplined evaluation requires both metrics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228600" cy="2286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879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two-stage closure + sales model and SHAP analysis are the clearest priority improvements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37960" y="822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Summary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37960" y="1664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RMSPE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3796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€1,051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537960" y="2578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MAE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3796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537960" y="34930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RMSPE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379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+38.8%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537960" y="44074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Uplift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Sales Forecasting  ·  Quantitative Research  · 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1981</Words>
  <Application>Microsoft Office PowerPoint</Application>
  <PresentationFormat>Affichage à l'écran (16:9)</PresentationFormat>
  <Paragraphs>318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Rossmann Store Sales Forecasting</dc:title>
  <dc:subject>PptxGenJS Presentation</dc:subject>
  <dc:creator>Quantitative Research</dc:creator>
  <cp:lastModifiedBy>Olivier ANDRIANOEL</cp:lastModifiedBy>
  <cp:revision>4</cp:revision>
  <dcterms:created xsi:type="dcterms:W3CDTF">2026-03-25T15:11:39Z</dcterms:created>
  <dcterms:modified xsi:type="dcterms:W3CDTF">2026-03-26T11:02:58Z</dcterms:modified>
</cp:coreProperties>
</file>